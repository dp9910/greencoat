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AI-Accelerated Material Discovery for Greenhouse Films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spectral coating that doesn't exist — before spending a dollar in the lab.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32688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424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" y="1572768"/>
            <a:ext cx="201168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9933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5%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713232" y="1572768"/>
            <a:ext cx="65836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9933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43%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417320" y="1389888"/>
            <a:ext cx="84124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19933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52%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304288" y="1499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100% heat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sunlight enters as NIR and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75488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heat. HVAC to remove it = 25–40% of total operating cost.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488" y="2743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Ahamed et al. (2019), Energy &amp; Buildings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17720" y="93268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17720" y="932688"/>
            <a:ext cx="420624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42416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Film Solution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773168" y="1444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coating that transmits only PAR (what plants need) while reflecting NIR before it enters the structure.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773168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Cooler greenhouse — no extra cooling system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773168" y="2139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or better plant growth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773168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3-year payback at $0.40/ft² premium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773168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Pest control as a free co-benefit (UV block)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20040" y="294436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0040" y="2944368"/>
            <a:ext cx="420624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54096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440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 Market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75488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commercial NIR film exists (Ginegar, Jan 2024) — and it has a critical flaw: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5488" y="3822192"/>
            <a:ext cx="3840480" cy="457200"/>
          </a:xfrm>
          <a:prstGeom prst="rect">
            <a:avLst/>
          </a:prstGeom>
          <a:solidFill>
            <a:srgbClr val="E07A1F">
              <a:alpha val="10000"/>
            </a:srgbClr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66928" y="3840480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cuts off at 700 nm — blocks far-red plants need. Our target: precise 750 nm cutoff. No funded startup owns this.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475488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$6.9B </a:t>
            </a:r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film market  ·  </a:t>
            </a:r>
            <a:pPr indent="0" marL="0">
              <a:buNone/>
            </a:pPr>
            <a:r>
              <a:rPr lang="en-US" sz="12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 CAGR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475488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SkyQuest Market Report, 2025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4617720" y="2944368"/>
            <a:ext cx="4206240" cy="1920240"/>
          </a:xfrm>
          <a:prstGeom prst="rect">
            <a:avLst/>
          </a:prstGeom>
          <a:solidFill>
            <a:srgbClr val="F4FAF6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617720" y="2944368"/>
            <a:ext cx="4206240" cy="548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054096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1208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Knows Chemistry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4773168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chatbots. AI trained on crystal structures, quantum physics, and optical spectra.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4773168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Screen 100,000+ candidates — virtually, before synthesis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4773168" y="4087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 light absorption from atomic structure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4773168" y="4315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Rank &amp; shortlist the top 8 for the lab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4773168" y="4544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experiment makes the AI smarter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4773168" y="4754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spent on synthesis until you know which material wins.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&amp; What the Chemist Does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optical spec · Leading materials · Your role in the loop.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Target Specification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400–750 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photosynthesis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Far-red 700–750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&gt; 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immunity signaling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 block 750+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Kills the heat 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&lt; 380 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Photostability + pest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quality in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$0.40/ft²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payback &lt; 3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17720" y="914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Candidate Systems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188720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188720"/>
            <a:ext cx="64008" cy="10607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2312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Cs₀.₃₃WO₃  —  Cesium Tungsten Bronze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1252728"/>
            <a:ext cx="1097280" cy="182880"/>
          </a:xfrm>
          <a:prstGeom prst="roundRect">
            <a:avLst>
              <a:gd name="adj" fmla="val 40000"/>
            </a:avLst>
          </a:prstGeom>
          <a:solidFill>
            <a:srgbClr val="2D6A4F">
              <a:alpha val="12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1252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82312" y="149961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Solvothermal, CsCl + WCl₆ in oleylamine, 180°C, 24 h. Target 20–60 nm.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82312" y="168249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Free-carrier plasmonic LSPR; λmax tunable 800–1200 nm via Cs:W ratio (0.25–0.40).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82312" y="184708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 UV-Vis-NIR, TEM, XRD phase purity  ·  Ref: Guo et al., Sol. Energy Mater. Sol. Cells, 2018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17720" y="232257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2322576"/>
            <a:ext cx="64008" cy="10607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2312" y="2386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V-doped TiO₂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89520" y="2386584"/>
            <a:ext cx="1097280" cy="182880"/>
          </a:xfrm>
          <a:prstGeom prst="roundRect">
            <a:avLst>
              <a:gd name="adj" fmla="val 40000"/>
            </a:avLst>
          </a:prstGeom>
          <a:solidFill>
            <a:srgbClr val="52B788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2386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UV+NIR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82312" y="2633472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Sol-gel, Ti(OiPr)₄ + VOSO₄; calcined 400°C (anatase phase).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82312" y="280720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V⁴⁺ on Ti⁴⁺ sites narrows bandgap 3.2→sub-2 eV; dual UV+NIR block.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82312" y="2980944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 DRS (Kubelka-Munk), XPS V 2p₃/₂, BET  ·  Self-cleaning photocatalysis (bonus)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617720" y="345643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3456432"/>
            <a:ext cx="64008" cy="106070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2312" y="3520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LaB₆ nanoparticles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589520" y="3520440"/>
            <a:ext cx="1097280" cy="182880"/>
          </a:xfrm>
          <a:prstGeom prst="roundRect">
            <a:avLst>
              <a:gd name="adj" fmla="val 40000"/>
            </a:avLst>
          </a:prstGeom>
          <a:solidFill>
            <a:srgbClr val="E07A1F">
              <a:alpha val="12000"/>
            </a:srgbClr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3520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82312" y="376732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Carbothermal reduction La₂O₃ + B₂O₃ at 1500°C; or NaBH₄ reduction (low-T).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782312" y="395020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Sharp plasmonic cutoff ~900 nm, minimal visible absorption. Highest NIR/PAR selectivity ratio.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82312" y="4114800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 EELS, XRD (CsCl-type cubic), DLS  ·  Ref: Granqvist, Thin Solid Films, 2014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65760" y="4617720"/>
            <a:ext cx="8412480" cy="475488"/>
          </a:xfrm>
          <a:prstGeom prst="rect">
            <a:avLst/>
          </a:prstGeom>
          <a:solidFill>
            <a:srgbClr val="F0F0EB"/>
          </a:solidFill>
          <a:ln w="12700">
            <a:solidFill>
              <a:srgbClr val="DDE2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5760" y="4617720"/>
            <a:ext cx="841248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6344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6634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Chemist’s edge: </a:t>
            </a:r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fine-tuning corpus (200–300 papers, Cs-W bronzes + metal oxide NIR)  ·  </a:t>
            </a:r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synthetic accessibility &amp; dispersant compatibility (oleic acid, silane, PVP for LDPE/EVA matrix)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100,000 Molecules. Spend $0.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does in weeks what would take a lifetime at the bench.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like this: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2529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25296"/>
            <a:ext cx="6400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The Library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known NIR-absorbing material ever published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(150,000+ compounds, databases like Materials Project).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379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reads and structures them in seconds.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The Fingerprint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molecule gets described numerically — its elements, crystal structure,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arrangement — like a chemical barcode.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770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manual lookup. AI converts chemistry to math.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6400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Predict Before You Synthesize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 engine (DFT) simulates how each material absorbs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— computed from first principles, not guessed.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Like running the UV-Vis spectrum on a computer.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Instant. 1000s in parallel.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23360"/>
            <a:ext cx="6400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782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Rank &amp; Shortlist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ranks all candidates on every property at once: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block, PAR transmission, stability, dispersibility.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walk into the lab with a ranked list of 5–8.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500.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09160" y="932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vs. The New Way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225296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225296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3350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Traditional approach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 candidate (days + materials cost)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18653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UV-Vis-NIR characterization (1–2 days)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meet spec — reformulate and repeat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iterations before a viable candidate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6334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iteration. Most candidates never make 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127248"/>
            <a:ext cx="4114800" cy="1810512"/>
          </a:xfrm>
          <a:prstGeom prst="rect">
            <a:avLst/>
          </a:prstGeom>
          <a:solidFill>
            <a:srgbClr val="F0F7F2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127248"/>
            <a:ext cx="41148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36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AI-guided approach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3511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100,000 candidates (4 weeks, ~$10K compute)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3767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spectra — no synthesis needed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023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Shortlist: top 8 compositions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 synthesizes those 8 only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535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work. Fraction of the cost.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Physics-Backed Candidates — Zero Lab Cost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4937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in-silico loop. The AI runs the pipeline. The chemist steers it. Nobody touches a flask until we’re certain.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0" y="749808"/>
            <a:ext cx="0" cy="4334256"/>
          </a:xfrm>
          <a:prstGeom prst="line">
            <a:avLst/>
          </a:prstGeom>
          <a:noFill/>
          <a:ln w="10160">
            <a:solidFill>
              <a:srgbClr val="DD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0" y="7498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DFT IS THE KEY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987552"/>
            <a:ext cx="0" cy="3822192"/>
          </a:xfrm>
          <a:prstGeom prst="line">
            <a:avLst/>
          </a:prstGeom>
          <a:noFill/>
          <a:ln w="19050">
            <a:solidFill>
              <a:srgbClr val="DDE2D8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02336" y="1115568"/>
            <a:ext cx="329184" cy="329184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969264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969264"/>
            <a:ext cx="64008" cy="8412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0332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What Data to Start With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" y="127101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search space: which material families, which property targets (NIR cutoff at 750 nm, PAR &gt;85%), and which databases to pull from.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87552" y="1609344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Project · AFLOW · Published Cs-W bronze, LaB₆, V-TiO₂ studies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02336" y="2084832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193852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1938528"/>
            <a:ext cx="64008" cy="84124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00253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 + Inject Chemist Knowledge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224028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scraped and structured. Then the chemist encodes everything they know: synthesis constraints, known dead-ends, dispersant compatibility, far-red nuance.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7552" y="257860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fine-tuned on 200–300 targeted NIR papers · Chemist curates the corpus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" y="3054096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2907792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2907792"/>
            <a:ext cx="64008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97180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to AI — It Writes Its Own Pipeline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" y="320954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ingests all data, encodes materials as fingerprints, trains a surrogate model, then auto-generates and runs the ML/VAE screening + DFT job files.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87552" y="354787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MatBERT embeddings · VAE latent space · Bayesian optimization · GPAW / Quantum ESPRESSO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02336" y="4023360"/>
            <a:ext cx="329184" cy="32918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3877056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3877056"/>
            <a:ext cx="64008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394106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Loop: DFT → Chemist Review → Re-run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87552" y="41788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computed spectra, bandgaps, stability. Chemist reads the data exactly as they would from a real characterization — tweaks search parameters, adds context, re-runs.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87552" y="451713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 until shortlist of 5–8 candidates clears every spec threshold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2960" y="4828032"/>
            <a:ext cx="3657600" cy="274320"/>
          </a:xfrm>
          <a:prstGeom prst="rect">
            <a:avLst/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846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Physics-backed candidates ready. 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synthesis cost until here.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969264"/>
            <a:ext cx="4133088" cy="566928"/>
          </a:xfrm>
          <a:prstGeom prst="rect">
            <a:avLst/>
          </a:prstGeom>
          <a:solidFill>
            <a:srgbClr val="FFFBF0"/>
          </a:solidFill>
          <a:ln w="12700">
            <a:solidFill>
              <a:srgbClr val="DDE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969264"/>
            <a:ext cx="4133088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1024128"/>
            <a:ext cx="292608" cy="29260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38928" y="1024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DFT = Quantum Mechanics Simulation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791456" y="12801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Schrödinger's equation for each candidate from first principles — no fitting parameters.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663440" y="1627632"/>
            <a:ext cx="197510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663440" y="1627632"/>
            <a:ext cx="1975104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4736592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Bandgap (eV)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736592" y="23317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exactly where NIR absorption begins. We need 1.5–2.0 eV for our 750 nm target. Computed from band structure — no spectrometer needed.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6766560" y="1627632"/>
            <a:ext cx="197510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766560" y="1627632"/>
            <a:ext cx="1975104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5800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6839712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Optical Spectrum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839712" y="233172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UV-Vis-NIR absorption curve for every candidate. We see the 750 nm cutoff, PAR transmission, and NIR block — virtually, before any coating is made.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4663440" y="2962656"/>
            <a:ext cx="197510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663440" y="2962656"/>
            <a:ext cx="1975104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5488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2000" dirty="0"/>
          </a:p>
        </p:txBody>
      </p:sp>
      <p:sp>
        <p:nvSpPr>
          <p:cNvPr id="58" name="Text 55"/>
          <p:cNvSpPr/>
          <p:nvPr/>
        </p:nvSpPr>
        <p:spPr>
          <a:xfrm>
            <a:off x="4736592" y="34198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Dielectric Function ε(ω)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736592" y="36667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imaginary parts give reflectance and transmittance. Directly maps our spec: T&gt;85% PAR, &gt;70% NIR rejection. Physics output we can show investors.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6766560" y="2962656"/>
            <a:ext cx="197510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766560" y="2962656"/>
            <a:ext cx="1975104" cy="548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6839712" y="34198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Thermodynamic Stability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839712" y="36667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energy tells us if the crystal is stable. Will it survive 5+ years of UV exposure on a greenhouse roof? We flag unstable candidates before synthesis.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4663440" y="4315968"/>
            <a:ext cx="4133088" cy="786384"/>
          </a:xfrm>
          <a:prstGeom prst="rect">
            <a:avLst/>
          </a:prstGeom>
          <a:solidFill>
            <a:srgbClr val="2D6A4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4791456" y="438912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synthesis.  </a:t>
            </a:r>
            <a:pPr indent="0" marL="0">
              <a:buNone/>
            </a:pPr>
            <a:r>
              <a:rPr lang="en-US" sz="16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characterization.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4791456" y="4700016"/>
            <a:ext cx="38770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spend a dollar on materials until DFT already tells us we have the right molecule.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a Texas Field. Fund It Without Dilution.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tunnel trials + $3.1M available in non-dilutive SBIR grants.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062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2062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241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1042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Texas Hoophouse Trials — 6 Tunnels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1481328"/>
            <a:ext cx="128016" cy="292608"/>
          </a:xfrm>
          <a:prstGeom prst="rect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 Control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" y="16642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LDPE — baseline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28016" cy="292608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1883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 Benchmark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" y="206654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Ginegar SunSaver (best incumbent)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0352" y="2286000"/>
            <a:ext cx="128016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 AI Film 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" y="24688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nm cutoff, low nanoparticle loading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30352" y="2688336"/>
            <a:ext cx="128016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2688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  AI Film B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" y="287121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nm cutoff, higher loading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30352" y="3090672"/>
            <a:ext cx="128016" cy="2926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3090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  AI Film 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" y="327355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nm + diffuser co-additive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0352" y="3566160"/>
            <a:ext cx="3886200" cy="0"/>
          </a:xfrm>
          <a:prstGeom prst="line">
            <a:avLst/>
          </a:prstGeom>
          <a:noFill/>
          <a:ln w="6350">
            <a:solidFill>
              <a:srgbClr val="DDE2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3547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weekly — one person, 30 min/tunnel: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30352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Air temp (HOBO logger)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0352" y="3995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Plant height — 10 tagged plants per tunnel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0352" y="4215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 count + leaf size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0352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Soil moisture (capacitive probe)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0352" y="4654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Total biomass at harvest</a:t>
            </a:r>
            <a:endParaRPr lang="en-US" sz="9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20040" cy="3200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6636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Non-Dilutive Funding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754880" y="1298448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754880" y="1298448"/>
            <a:ext cx="64008" cy="8778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19472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 SBIR / STTR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919472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$200K   ·   Phase II: $1.1M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4919472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 for Building Efficiency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754880" y="228600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754880" y="2286000"/>
            <a:ext cx="64008" cy="8778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19472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 SBIR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919472" y="2633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$150K   ·   Phase II: $600K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4919472" y="2871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Environment Agriculture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754880" y="3273552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754880" y="3273552"/>
            <a:ext cx="64008" cy="87782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919472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NSF SBIR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4919472" y="3621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$275K   ·   Phase II: $1M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4919472" y="3858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Manufacturing (MFR program)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54880" y="4297680"/>
            <a:ext cx="406908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4892040" y="43525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available: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~$3.1M non-dilutive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4892040" y="462686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target: Q2 2026  ·  No equity given up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Film. The Same Physics. A Much Bigger Market.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rejection on a greenhouse film and NIR rejection on a data centre envelope are identical optics problems.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3200400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32004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8595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8778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Centre Heat Crisis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" y="1261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75488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electricity by 2030 (NREL)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488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75488" y="2359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= cooling (NREL, 2025)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2724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5488" y="30906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spend by 2030 (McKinsey)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3456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6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1,479 TWh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75488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DC power demand by 2030 (ABI Research)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5488" y="4169664"/>
            <a:ext cx="2871216" cy="749808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206240"/>
            <a:ext cx="2697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centres rely entirely on mechanical cooling (chillers, CRAC units). Solar heat entering through the building envelope — roof, walls, glazing — is entirely unmanaged. No coating product addresses this today.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39312" y="749808"/>
            <a:ext cx="5166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39312" y="749808"/>
            <a:ext cx="51663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85953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33088" y="877824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1 — Envelope Coating (Roof + Walls)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785616" y="1170432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NIR-reflective nanoparticle coating directly to data centre roof and south-facing walls.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785616" y="1408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reflectance of 0.59: 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093208" y="1408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indoor temp by 2.4°C (Zhang et al. 2017, Energy Explor. Exploit.)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785616" y="16184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NIR-reflective coatings: 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5093208" y="16184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solar heat gain ~40%, cooling load 11-27% (ScienceDirect, 2024)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785616" y="18288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temp reductions: 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93208" y="18288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20°C exterior, 4.7°C interior vs standard materials (ScienceDirect, 2012)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639312" y="2194560"/>
            <a:ext cx="5166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639312" y="2194560"/>
            <a:ext cx="516636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304288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133088" y="232257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2 — Spectrally-Selective Window Film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3785616" y="259689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existing data centre glazing with the same NIR-blocking film formulation developed for greenhouses. Standard SHGC of commercial glazing is 0.70-0.81 — leaving 70-80% of solar heat entering unchecked.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785616" y="2980944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products (3M Prestige, Eastman): $3-8/ft². Our nanoparticle film: designed for &lt;$1/ft² at scale. Retrofit, no structural work.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3639312" y="3547872"/>
            <a:ext cx="516636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DDE2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3639312" y="3547872"/>
            <a:ext cx="5166360" cy="548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657600"/>
            <a:ext cx="292608" cy="29260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133088" y="3675888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3 — The Greenhouse-Shell Concept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3785616" y="395020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exterior airspace of a data centre with a lightweight NIR-blocking film structure — identical in principle to a greenhouse cover, but inverted: designed to reject solar heat before it reaches the building skin.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3785616" y="4370832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suited to new hyperscale campuses in hot climates (Texas, Arizona, Middle East, Southeast Asia) where ambient heat + solar load are primary drivers of HVAC cost. Same film. New form factor. Passive. No energy required.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7589520" y="3694176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2C3E50">
              <a:alpha val="12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589520" y="3694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concept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320040" y="4791456"/>
            <a:ext cx="8485632" cy="31089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adjacency:  </a:t>
            </a:r>
            <a:pPr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 commercial glazing  ·  </a:t>
            </a:r>
            <a:pPr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$290B data centre infrastructure spend (2024)  ·  </a:t>
            </a:r>
            <a:pPr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material. Same discovery pipeline. Zero additional R&amp;D.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8046720" y="4956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Spectral-Selective Greenhouse Films — Partner Pitch</dc:title>
  <dc:subject>PptxGenJS Presentation</dc:subject>
  <dc:creator>PptxGenJS</dc:creator>
  <cp:lastModifiedBy>PptxGenJS</cp:lastModifiedBy>
  <cp:revision>1</cp:revision>
  <dcterms:created xsi:type="dcterms:W3CDTF">2026-02-28T18:18:56Z</dcterms:created>
  <dcterms:modified xsi:type="dcterms:W3CDTF">2026-02-28T18:18:56Z</dcterms:modified>
</cp:coreProperties>
</file>